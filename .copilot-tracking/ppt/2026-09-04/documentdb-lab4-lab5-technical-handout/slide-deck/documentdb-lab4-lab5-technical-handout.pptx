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framing this as a technical walkthrough rather than a click-through lab. The audience is highly technical, so treat every step as a design decision: identity boundary, data shape, embedding boundary, index boundary, retrieval boundary, and generation boundary. Be explicit that BM25 and hybrid search may be gated or unavailable in this environment. The goal is still strong: attendees should leave knowing where those features fit, how the code would use them, and how to validate the fallback path.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pacing slide. Explain that Lab 4 gets 30 minutes and Lab 5 gets 30 minutes. For Lab 4, spend most time on setup, embeddings, vector indexing, and the preview-gated search story. For Lab 5, move quickly from chunking to retrieval to prompt assembly. If something fails, do not spend the room's time debugging package installs. Move to the conceptual path and show the relevant notebook cells.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before opening either notebook. The key message is that students should not edit cluster names in notebooks. The VM setup and Set-LabEnvironment.ps1 populate three environment variables. The notebooks consume them. Azure CLI supplies Entra tokens for both DocumentDB and Azure OpenAI. This is a cleaner model than copying connection strings or keys into notebooks.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Lab 4 story with why search needs multiple retrieval signals. Vector search is semantic similarity over embeddings. Full-text search, BM25, fuzzy, and phrase search are lexical signals. Hybrid combines those rankings. In this environment, if full-text search is unavailable, the lab should still run vector search and use the BM25/hybrid cells as design review material.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natural opening. Say: We are going to build search as a layered retrieval system. The notebook already knows the cluster and endpoint through environment variables. If the setup cell fails, it means the runtime contract is missing, not that the notebook needs hardcoded values. For BM25 and hybrid, today we may not execute them if the preview gate is closed. That is fine. We will read the query shape and discuss what changes when the capability is enabled.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cells as tests. The connect cell proves identity and endpoint wiring. The load cell proves document shape. The embedding cell proves model access and vector dimensions. The vector index cell proves the retrieval index exists. The vector query proves a semantic signal. Full-text and hybrid cells prove the intended query contract, even if execution is disabled by service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facilitation slide for your constraint. Do not apologize for the feature boundary. Explain it. BM25 needs a full-text search index and service capability. The notebook should catch unsupported errors and keep going. Then read the aggregate pipeline: the search stage, index name, path, query, limit, and projection. Ask the audience how they would test scoring quality once access is enabled.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hybrid as two candidate lists and a fusion function. One list comes from vector similarity, one from BM25. Reciprocal Rank Fusion rewards documents that appear high in either or both lists. Even if the hybrid operator is not runnable, attendees can understand the ranking mechanics and why hybrid often improves robustness for mixed semantic and keyword-heavy queries.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Lab 4 by converting the lab into mental models. Vector search answers 'meaning-like-this'. BM25 answers 'terms-like-this'. Hybrid answers 'combine the strengths'. Capability detection is part of production readiness. The notebook should not be modified per attendee; it should read environment variables and fail with an actionable setup command.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Lab 5 by saying: RAG is not 'call the model with a database attached.' It is an application architecture. We chunk source content, embed chunks, store them with metadata, retrieve evidence for a question, assemble a prompt, and call a chat model. In this environment, we can still teach the retrieval and prompt architecture even if lexical/hybrid signals are unavailable.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Lab 5 operating plan. Spend three minutes recapping from Lab 4, seven minutes on chunking and embeddings, eight minutes on retrieval, seven minutes on prompt assembly, and five minutes on production concerns. If the environment cannot execute BM25 or hybrid, use vector retrieval as the live demo and explain where the second retrieval signal would plug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chunking is a modeling decision. Too small and context loses meaning. Too large and retrieval becomes noisy and expensive. Metadata is not decorative. It lets you filter, cite, debug, and evaluate. In a technical audience, this is the point to discuss deterministic preprocessing and repeatable chunk IDs.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avoid getting trapped by a blocked hybrid query. Run vector retrieval if available. Then say: the hybrid branch would add lexical candidates and fuse them before prompt assembly. The rest of the RAG architecture remains the same. This is valuable because production systems often have feature flags or region-specific capability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prompt construction as a data structure, not prose pasted into a chat box. The high-value concept is separation: system instruction, retrieved evidence, user question, and answer constraints. This is where the search lab becomes an AI application lab. If retrieval is weak, prompt quality cannot fully compensate.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speaker handout slide. Keep it visible during questions. If env vars are missing, run Set-LabEnvironment.ps1 and restart the kernel. If DocumentDB auth fails, check az login and role assignment. If embedding fails, check deployment name and token scope. If BM25/hybrid fails, explain preview gating and continue with vector-only retrieval.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with a conversation, not a recap. Ask how they would measure retrieval quality, what metadata they would add, whether they would choose vector-only or hybrid retrieval, how they would handle feature availability across regions, and what they would log for production support. This makes the session valuable even when some preview queries cannot execute 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your final script. Say: Today you saw the executable vector path and the architectural placement of BM25 and hybrid. The unavailable cells are not wasted; they are contracts. Once full-text preview is enabled, the same data model and prompt flow can accept lexical candidates and fused ranking. The most transferable lesson is not the syntax of one operator. It is how to design a retrieval pipeline that is explicit, observable, and resilient to capability boundaries.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BF5F7"/>
        </a:solidFill>
        <a:effectLst/>
      </p:bgPr>
    </p:bg>
    <p:spTree>
      <p:nvGrpSpPr>
        <p:cNvPr id="1" name=""/>
        <p:cNvGrpSpPr/>
        <p:nvPr/>
      </p:nvGrpSpPr>
      <p:grpSpPr/>
      <p:sp>
        <p:nvSpPr>
          <p:cNvPr id="2" name="TextBox 1"/>
          <p:cNvSpPr txBox="1"/>
          <p:nvPr/>
        </p:nvSpPr>
        <p:spPr>
          <a:xfrm>
            <a:off x="594360" y="502920"/>
            <a:ext cx="5669280" cy="502920"/>
          </a:xfrm>
          <a:prstGeom prst="rect">
            <a:avLst/>
          </a:prstGeom>
          <a:noFill/>
        </p:spPr>
        <p:txBody>
          <a:bodyPr wrap="square" lIns="45720" rIns="45720" tIns="27432" bIns="27432">
            <a:spAutoFit/>
          </a:bodyPr>
          <a:lstStyle/>
          <a:p>
            <a:r>
              <a:rPr sz="1800" b="1">
                <a:solidFill>
                  <a:srgbClr val="007782"/>
                </a:solidFill>
                <a:latin typeface="Aptos"/>
              </a:rPr>
              <a:t>Azure DocumentDB</a:t>
            </a:r>
          </a:p>
        </p:txBody>
      </p:sp>
      <p:sp>
        <p:nvSpPr>
          <p:cNvPr id="3" name="TextBox 2"/>
          <p:cNvSpPr txBox="1"/>
          <p:nvPr/>
        </p:nvSpPr>
        <p:spPr>
          <a:xfrm>
            <a:off x="594360" y="1170432"/>
            <a:ext cx="8046720" cy="685800"/>
          </a:xfrm>
          <a:prstGeom prst="rect">
            <a:avLst/>
          </a:prstGeom>
          <a:noFill/>
        </p:spPr>
        <p:txBody>
          <a:bodyPr wrap="square" lIns="45720" rIns="45720" tIns="27432" bIns="27432">
            <a:spAutoFit/>
          </a:bodyPr>
          <a:lstStyle/>
          <a:p>
            <a:r>
              <a:rPr sz="3000" b="1">
                <a:solidFill>
                  <a:srgbClr val="143156"/>
                </a:solidFill>
                <a:latin typeface="Aptos"/>
              </a:rPr>
              <a:t>Technical walkthrough speaker handout</a:t>
            </a:r>
          </a:p>
        </p:txBody>
      </p:sp>
      <p:sp>
        <p:nvSpPr>
          <p:cNvPr id="4" name="TextBox 3"/>
          <p:cNvSpPr txBox="1"/>
          <p:nvPr/>
        </p:nvSpPr>
        <p:spPr>
          <a:xfrm>
            <a:off x="621792" y="1993392"/>
            <a:ext cx="9966960" cy="502920"/>
          </a:xfrm>
          <a:prstGeom prst="rect">
            <a:avLst/>
          </a:prstGeom>
          <a:noFill/>
        </p:spPr>
        <p:txBody>
          <a:bodyPr wrap="square" lIns="45720" rIns="45720" tIns="27432" bIns="27432">
            <a:spAutoFit/>
          </a:bodyPr>
          <a:lstStyle/>
          <a:p>
            <a:r>
              <a:rPr sz="1500" b="0">
                <a:solidFill>
                  <a:srgbClr val="4B5563"/>
                </a:solidFill>
                <a:latin typeface="Aptos"/>
              </a:rPr>
              <a:t>Lab 4 Search + Lab 5 RAG Pipeline | 30 minutes each | BM25 and hybrid treated as architecture walkthroughs when preview features are unavailable</a:t>
            </a:r>
          </a:p>
        </p:txBody>
      </p:sp>
      <p:sp>
        <p:nvSpPr>
          <p:cNvPr id="5" name="Rounded Rectangle 4"/>
          <p:cNvSpPr/>
          <p:nvPr/>
        </p:nvSpPr>
        <p:spPr>
          <a:xfrm>
            <a:off x="685800" y="3063240"/>
            <a:ext cx="3200400" cy="100584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Trainer stance
Explain the system as an engineer would debug it</a:t>
            </a:r>
          </a:p>
        </p:txBody>
      </p:sp>
      <p:sp>
        <p:nvSpPr>
          <p:cNvPr id="6" name="Rounded Rectangle 5"/>
          <p:cNvSpPr/>
          <p:nvPr/>
        </p:nvSpPr>
        <p:spPr>
          <a:xfrm>
            <a:off x="4526280" y="3063240"/>
            <a:ext cx="3200400" cy="100584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Lab 4
Vector search works; BM25/hybrid may be preview-gated</a:t>
            </a:r>
          </a:p>
        </p:txBody>
      </p:sp>
      <p:sp>
        <p:nvSpPr>
          <p:cNvPr id="7" name="Rounded Rectangle 6"/>
          <p:cNvSpPr/>
          <p:nvPr/>
        </p:nvSpPr>
        <p:spPr>
          <a:xfrm>
            <a:off x="8366760" y="3063240"/>
            <a:ext cx="3200400" cy="100584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Lab 5
RAG is the composition pattern, not a single query feature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AGENDA</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60-minute delivery map</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Use the clock aggressively; the labs are demos plus architecture, not full typing exercises.</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28800"/>
            <a:ext cx="148132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0-5
Frame</a:t>
            </a:r>
          </a:p>
        </p:txBody>
      </p:sp>
      <p:sp>
        <p:nvSpPr>
          <p:cNvPr id="7" name="Rounded Rectangle 6"/>
          <p:cNvSpPr/>
          <p:nvPr/>
        </p:nvSpPr>
        <p:spPr>
          <a:xfrm>
            <a:off x="2194560" y="1828800"/>
            <a:ext cx="1481328"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5-15
Lab 4 setup + data</a:t>
            </a:r>
          </a:p>
        </p:txBody>
      </p:sp>
      <p:sp>
        <p:nvSpPr>
          <p:cNvPr id="8" name="Rounded Rectangle 7"/>
          <p:cNvSpPr/>
          <p:nvPr/>
        </p:nvSpPr>
        <p:spPr>
          <a:xfrm>
            <a:off x="3749039" y="1828800"/>
            <a:ext cx="148132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15-25
Vector + preview search</a:t>
            </a:r>
          </a:p>
        </p:txBody>
      </p:sp>
      <p:sp>
        <p:nvSpPr>
          <p:cNvPr id="9" name="Rounded Rectangle 8"/>
          <p:cNvSpPr/>
          <p:nvPr/>
        </p:nvSpPr>
        <p:spPr>
          <a:xfrm>
            <a:off x="5303520" y="1828800"/>
            <a:ext cx="1481328"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25-30
Lab 4 recap</a:t>
            </a:r>
          </a:p>
        </p:txBody>
      </p:sp>
      <p:sp>
        <p:nvSpPr>
          <p:cNvPr id="10" name="Rounded Rectangle 9"/>
          <p:cNvSpPr/>
          <p:nvPr/>
        </p:nvSpPr>
        <p:spPr>
          <a:xfrm>
            <a:off x="6858000" y="1828800"/>
            <a:ext cx="148132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30-40
Lab 5 pipeline</a:t>
            </a:r>
          </a:p>
        </p:txBody>
      </p:sp>
      <p:sp>
        <p:nvSpPr>
          <p:cNvPr id="11" name="Rounded Rectangle 10"/>
          <p:cNvSpPr/>
          <p:nvPr/>
        </p:nvSpPr>
        <p:spPr>
          <a:xfrm>
            <a:off x="8412480" y="1828800"/>
            <a:ext cx="1481328"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40-52
Retrieval + prompt</a:t>
            </a:r>
          </a:p>
        </p:txBody>
      </p:sp>
      <p:sp>
        <p:nvSpPr>
          <p:cNvPr id="12" name="Rounded Rectangle 11"/>
          <p:cNvSpPr/>
          <p:nvPr/>
        </p:nvSpPr>
        <p:spPr>
          <a:xfrm>
            <a:off x="9966959" y="1828800"/>
            <a:ext cx="148132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52-60
Tradeoffs + Q&amp;A</a:t>
            </a:r>
          </a:p>
        </p:txBody>
      </p:sp>
      <p:sp>
        <p:nvSpPr>
          <p:cNvPr id="13" name="TextBox 12"/>
          <p:cNvSpPr txBox="1"/>
          <p:nvPr/>
        </p:nvSpPr>
        <p:spPr>
          <a:xfrm>
            <a:off x="914400" y="2788920"/>
            <a:ext cx="10241280" cy="1920240"/>
          </a:xfrm>
          <a:prstGeom prst="rect">
            <a:avLst/>
          </a:prstGeom>
          <a:noFill/>
        </p:spPr>
        <p:txBody>
          <a:bodyPr wrap="square" lIns="45720" rIns="45720" tIns="27432" bIns="27432">
            <a:spAutoFit/>
          </a:bodyPr>
          <a:lstStyle/>
          <a:p>
            <a:pPr>
              <a:spcAft>
                <a:spcPts val="180"/>
              </a:spcAft>
              <a:defRPr sz="1700">
                <a:solidFill>
                  <a:srgbClr val="1F2937"/>
                </a:solidFill>
                <a:latin typeface="Aptos"/>
              </a:defRPr>
            </a:pPr>
            <a:r>
              <a:t>Do not promise BM25 or hybrid execution when full-text preview is unavailable.</a:t>
            </a:r>
          </a:p>
          <a:p>
            <a:pPr>
              <a:spcAft>
                <a:spcPts val="180"/>
              </a:spcAft>
              <a:defRPr sz="1700">
                <a:solidFill>
                  <a:srgbClr val="1F2937"/>
                </a:solidFill>
                <a:latin typeface="Aptos"/>
              </a:defRPr>
            </a:pPr>
            <a:r>
              <a:t>Keep the audience oriented around contracts: env vars, token scopes, collection names, index names, query shapes.</a:t>
            </a:r>
          </a:p>
          <a:p>
            <a:pPr>
              <a:spcAft>
                <a:spcPts val="180"/>
              </a:spcAft>
              <a:defRPr sz="1700">
                <a:solidFill>
                  <a:srgbClr val="1F2937"/>
                </a:solidFill>
                <a:latin typeface="Aptos"/>
              </a:defRPr>
            </a:pPr>
            <a:r>
              <a:t>Use failed preview queries as an opportunity to explain capability detection and graceful fallback.</a:t>
            </a:r>
          </a:p>
          <a:p>
            <a:pPr>
              <a:spcAft>
                <a:spcPts val="180"/>
              </a:spcAft>
              <a:defRPr sz="1700">
                <a:solidFill>
                  <a:srgbClr val="1F2937"/>
                </a:solidFill>
                <a:latin typeface="Aptos"/>
              </a:defRPr>
            </a:pPr>
            <a:r>
              <a:t>End each lab with the production design question: what would you monitor, tune, or change?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ARCHITECTURE</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Shared runtime contract</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Lab 4 and Lab 5 use the same identity and endpoint contract.</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920240"/>
            <a:ext cx="1965960" cy="82296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Trainer / student
PowerShell + az login</a:t>
            </a:r>
          </a:p>
        </p:txBody>
      </p:sp>
      <p:sp>
        <p:nvSpPr>
          <p:cNvPr id="7" name="Rounded Rectangle 6"/>
          <p:cNvSpPr/>
          <p:nvPr/>
        </p:nvSpPr>
        <p:spPr>
          <a:xfrm>
            <a:off x="3154680" y="1920240"/>
            <a:ext cx="2057400" cy="82296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Set-LabEnvironment.ps1
Discovers resources</a:t>
            </a:r>
          </a:p>
        </p:txBody>
      </p:sp>
      <p:sp>
        <p:nvSpPr>
          <p:cNvPr id="8" name="Rounded Rectangle 7"/>
          <p:cNvSpPr/>
          <p:nvPr/>
        </p:nvSpPr>
        <p:spPr>
          <a:xfrm>
            <a:off x="5715000" y="1691640"/>
            <a:ext cx="2514600" cy="128016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100" b="1">
                <a:solidFill>
                  <a:srgbClr val="1F2937"/>
                </a:solidFill>
                <a:latin typeface="Aptos"/>
              </a:rPr>
              <a:t>Environment variables
DOCUMENTDB_CLUSTER_NAME
AZURE_OPENAI_ENDPOINT
AZURE_OPENAI_EMBEDDING_DEPLOYMENT</a:t>
            </a:r>
          </a:p>
        </p:txBody>
      </p:sp>
      <p:sp>
        <p:nvSpPr>
          <p:cNvPr id="9" name="Rounded Rectangle 8"/>
          <p:cNvSpPr/>
          <p:nvPr/>
        </p:nvSpPr>
        <p:spPr>
          <a:xfrm>
            <a:off x="8823960" y="1920240"/>
            <a:ext cx="1645920" cy="82296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Notebooks
Lab 4 + Lab 5</a:t>
            </a:r>
          </a:p>
        </p:txBody>
      </p:sp>
      <p:sp>
        <p:nvSpPr>
          <p:cNvPr id="10" name="Rounded Rectangle 9"/>
          <p:cNvSpPr/>
          <p:nvPr/>
        </p:nvSpPr>
        <p:spPr>
          <a:xfrm>
            <a:off x="4572000" y="4160520"/>
            <a:ext cx="3108960" cy="82296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Azure services
DocumentDB + Azure OpenAI</a:t>
            </a:r>
          </a:p>
        </p:txBody>
      </p:sp>
      <p:cxnSp>
        <p:nvCxnSpPr>
          <p:cNvPr id="11" name="Connector 10"/>
          <p:cNvCxnSpPr/>
          <p:nvPr/>
        </p:nvCxnSpPr>
        <p:spPr>
          <a:xfrm>
            <a:off x="2697480" y="2331720"/>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212080" y="2331720"/>
            <a:ext cx="50292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29600" y="2331720"/>
            <a:ext cx="59436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583680" y="2743200"/>
            <a:ext cx="3063240" cy="141732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126480" y="2971800"/>
            <a:ext cx="0" cy="1188720"/>
          </a:xfrm>
          <a:prstGeom prst="line">
            <a:avLst/>
          </a:prstGeom>
          <a:ln w="20320">
            <a:solidFill>
              <a:srgbClr val="247D54"/>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68680" y="3246120"/>
            <a:ext cx="2560320" cy="320040"/>
          </a:xfrm>
          <a:prstGeom prst="rect">
            <a:avLst/>
          </a:prstGeom>
          <a:noFill/>
        </p:spPr>
        <p:txBody>
          <a:bodyPr wrap="square" lIns="45720" rIns="45720" tIns="27432" bIns="27432">
            <a:spAutoFit/>
          </a:bodyPr>
          <a:lstStyle/>
          <a:p>
            <a:r>
              <a:rPr sz="1600" b="1">
                <a:solidFill>
                  <a:srgbClr val="143156"/>
                </a:solidFill>
                <a:latin typeface="Aptos"/>
              </a:rPr>
              <a:t>No notebook hardcoding</a:t>
            </a:r>
          </a:p>
        </p:txBody>
      </p:sp>
      <p:sp>
        <p:nvSpPr>
          <p:cNvPr id="17" name="TextBox 16"/>
          <p:cNvSpPr txBox="1"/>
          <p:nvPr/>
        </p:nvSpPr>
        <p:spPr>
          <a:xfrm>
            <a:off x="868680" y="3611880"/>
            <a:ext cx="2926080" cy="1005840"/>
          </a:xfrm>
          <a:prstGeom prst="rect">
            <a:avLst/>
          </a:prstGeom>
          <a:noFill/>
        </p:spPr>
        <p:txBody>
          <a:bodyPr wrap="square" lIns="45720" rIns="45720" tIns="27432" bIns="27432">
            <a:spAutoFit/>
          </a:bodyPr>
          <a:lstStyle/>
          <a:p>
            <a:pPr>
              <a:spcAft>
                <a:spcPts val="180"/>
              </a:spcAft>
              <a:defRPr sz="1300">
                <a:solidFill>
                  <a:srgbClr val="1F2937"/>
                </a:solidFill>
                <a:latin typeface="Aptos"/>
              </a:defRPr>
            </a:pPr>
            <a:r>
              <a:t>Resource discovery belongs in setup</a:t>
            </a:r>
          </a:p>
          <a:p>
            <a:pPr>
              <a:spcAft>
                <a:spcPts val="180"/>
              </a:spcAft>
              <a:defRPr sz="1300">
                <a:solidFill>
                  <a:srgbClr val="1F2937"/>
                </a:solidFill>
                <a:latin typeface="Aptos"/>
              </a:defRPr>
            </a:pPr>
            <a:r>
              <a:t>Notebook code reads runtime contract</a:t>
            </a:r>
          </a:p>
          <a:p>
            <a:pPr>
              <a:spcAft>
                <a:spcPts val="180"/>
              </a:spcAft>
              <a:defRPr sz="1300">
                <a:solidFill>
                  <a:srgbClr val="1F2937"/>
                </a:solidFill>
                <a:latin typeface="Aptos"/>
              </a:defRPr>
            </a:pPr>
            <a:r>
              <a:t>AAD tokens replace copied secrets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4</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Lab 4 architecture: search over operational documents</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The executable path is vector search; BM25 and hybrid are explained as preview-gated extensions.</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28800"/>
            <a:ext cx="1645920" cy="73152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Sample docs
JSON content</a:t>
            </a:r>
          </a:p>
        </p:txBody>
      </p:sp>
      <p:sp>
        <p:nvSpPr>
          <p:cNvPr id="7" name="Rounded Rectangle 6"/>
          <p:cNvSpPr/>
          <p:nvPr/>
        </p:nvSpPr>
        <p:spPr>
          <a:xfrm>
            <a:off x="2743200" y="1828800"/>
            <a:ext cx="2011680" cy="73152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Embedding model
textembedding3small</a:t>
            </a:r>
          </a:p>
        </p:txBody>
      </p:sp>
      <p:sp>
        <p:nvSpPr>
          <p:cNvPr id="8" name="Rounded Rectangle 7"/>
          <p:cNvSpPr/>
          <p:nvPr/>
        </p:nvSpPr>
        <p:spPr>
          <a:xfrm>
            <a:off x="5166360" y="1828800"/>
            <a:ext cx="2057400" cy="73152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DocumentDB collection
workshop_content</a:t>
            </a:r>
          </a:p>
        </p:txBody>
      </p:sp>
      <p:sp>
        <p:nvSpPr>
          <p:cNvPr id="9" name="Rounded Rectangle 8"/>
          <p:cNvSpPr/>
          <p:nvPr/>
        </p:nvSpPr>
        <p:spPr>
          <a:xfrm>
            <a:off x="7635240" y="1417320"/>
            <a:ext cx="1737360" cy="68580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Vector index
cosmosSearch</a:t>
            </a:r>
          </a:p>
        </p:txBody>
      </p:sp>
      <p:sp>
        <p:nvSpPr>
          <p:cNvPr id="10" name="Rounded Rectangle 9"/>
          <p:cNvSpPr/>
          <p:nvPr/>
        </p:nvSpPr>
        <p:spPr>
          <a:xfrm>
            <a:off x="7635240" y="2331720"/>
            <a:ext cx="1737360" cy="685800"/>
          </a:xfrm>
          <a:prstGeom prst="roundRect">
            <a:avLst/>
          </a:prstGeom>
          <a:solidFill>
            <a:srgbClr val="FEE2E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Full-text index
BM25 preview</a:t>
            </a:r>
          </a:p>
        </p:txBody>
      </p:sp>
      <p:sp>
        <p:nvSpPr>
          <p:cNvPr id="11" name="Rounded Rectangle 10"/>
          <p:cNvSpPr/>
          <p:nvPr/>
        </p:nvSpPr>
        <p:spPr>
          <a:xfrm>
            <a:off x="9829800" y="1828800"/>
            <a:ext cx="1737360" cy="73152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Queries
vector | BM25 | hybrid</a:t>
            </a:r>
          </a:p>
        </p:txBody>
      </p:sp>
      <p:cxnSp>
        <p:nvCxnSpPr>
          <p:cNvPr id="12" name="Connector 11"/>
          <p:cNvCxnSpPr/>
          <p:nvPr/>
        </p:nvCxnSpPr>
        <p:spPr>
          <a:xfrm>
            <a:off x="2331720" y="2194560"/>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54880" y="2194560"/>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223760" y="2194560"/>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372600" y="2194560"/>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14400" y="3886200"/>
            <a:ext cx="10241280" cy="1463040"/>
          </a:xfrm>
          <a:prstGeom prst="rect">
            <a:avLst/>
          </a:prstGeom>
          <a:noFill/>
        </p:spPr>
        <p:txBody>
          <a:bodyPr wrap="square" lIns="45720" rIns="45720" tIns="27432" bIns="27432">
            <a:spAutoFit/>
          </a:bodyPr>
          <a:lstStyle/>
          <a:p>
            <a:pPr>
              <a:spcAft>
                <a:spcPts val="180"/>
              </a:spcAft>
              <a:defRPr sz="1600">
                <a:solidFill>
                  <a:srgbClr val="1F2937"/>
                </a:solidFill>
                <a:latin typeface="Aptos"/>
              </a:defRPr>
            </a:pPr>
            <a:r>
              <a:t>The collection is the integration point: raw fields plus embedding vectors.</a:t>
            </a:r>
          </a:p>
          <a:p>
            <a:pPr>
              <a:spcAft>
                <a:spcPts val="180"/>
              </a:spcAft>
              <a:defRPr sz="1600">
                <a:solidFill>
                  <a:srgbClr val="1F2937"/>
                </a:solidFill>
                <a:latin typeface="Aptos"/>
              </a:defRPr>
            </a:pPr>
            <a:r>
              <a:t>Vector search can be demonstrated as the dependable path.</a:t>
            </a:r>
          </a:p>
          <a:p>
            <a:pPr>
              <a:spcAft>
                <a:spcPts val="180"/>
              </a:spcAft>
              <a:defRPr sz="1600">
                <a:solidFill>
                  <a:srgbClr val="1F2937"/>
                </a:solidFill>
                <a:latin typeface="Aptos"/>
              </a:defRPr>
            </a:pPr>
            <a:r>
              <a:t>BM25, fuzzy, phrase, and hybrid should be narrated when full-text preview returns code 115 or equivalent capability errors.</a:t>
            </a:r>
          </a:p>
        </p:txBody>
      </p:sp>
      <p:sp>
        <p:nvSpPr>
          <p:cNvPr id="17" name="Rounded Rectangle 16"/>
          <p:cNvSpPr/>
          <p:nvPr/>
        </p:nvSpPr>
        <p:spPr>
          <a:xfrm>
            <a:off x="640080" y="6080760"/>
            <a:ext cx="174040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Setup</a:t>
            </a:r>
          </a:p>
        </p:txBody>
      </p:sp>
      <p:sp>
        <p:nvSpPr>
          <p:cNvPr id="18" name="Rounded Rectangle 17"/>
          <p:cNvSpPr/>
          <p:nvPr/>
        </p:nvSpPr>
        <p:spPr>
          <a:xfrm>
            <a:off x="2453640" y="6080760"/>
            <a:ext cx="1740408"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Load docs</a:t>
            </a:r>
          </a:p>
        </p:txBody>
      </p:sp>
      <p:sp>
        <p:nvSpPr>
          <p:cNvPr id="19" name="Rounded Rectangle 18"/>
          <p:cNvSpPr/>
          <p:nvPr/>
        </p:nvSpPr>
        <p:spPr>
          <a:xfrm>
            <a:off x="4267200" y="6080760"/>
            <a:ext cx="174040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Embed</a:t>
            </a:r>
          </a:p>
        </p:txBody>
      </p:sp>
      <p:sp>
        <p:nvSpPr>
          <p:cNvPr id="20" name="Rounded Rectangle 19"/>
          <p:cNvSpPr/>
          <p:nvPr/>
        </p:nvSpPr>
        <p:spPr>
          <a:xfrm>
            <a:off x="6080760" y="6080760"/>
            <a:ext cx="1740408"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Index</a:t>
            </a:r>
          </a:p>
        </p:txBody>
      </p:sp>
      <p:sp>
        <p:nvSpPr>
          <p:cNvPr id="21" name="Rounded Rectangle 20"/>
          <p:cNvSpPr/>
          <p:nvPr/>
        </p:nvSpPr>
        <p:spPr>
          <a:xfrm>
            <a:off x="7894320" y="6080760"/>
            <a:ext cx="1740408"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Vector demo</a:t>
            </a:r>
          </a:p>
        </p:txBody>
      </p:sp>
      <p:sp>
        <p:nvSpPr>
          <p:cNvPr id="22" name="Rounded Rectangle 21"/>
          <p:cNvSpPr/>
          <p:nvPr/>
        </p:nvSpPr>
        <p:spPr>
          <a:xfrm>
            <a:off x="9707880" y="6080760"/>
            <a:ext cx="1740408"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Preview search talk-through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4</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Lab 4 opening talk track</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First five minutes: remove ambiguity before code runs.</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698480" cy="2194560"/>
          </a:xfrm>
          <a:prstGeom prst="rect">
            <a:avLst/>
          </a:prstGeom>
          <a:noFill/>
        </p:spPr>
        <p:txBody>
          <a:bodyPr wrap="square" lIns="45720" rIns="45720" tIns="27432" bIns="27432">
            <a:spAutoFit/>
          </a:bodyPr>
          <a:lstStyle/>
          <a:p>
            <a:pPr>
              <a:spcAft>
                <a:spcPts val="180"/>
              </a:spcAft>
              <a:defRPr sz="1800">
                <a:solidFill>
                  <a:srgbClr val="1F2937"/>
                </a:solidFill>
                <a:latin typeface="Aptos"/>
              </a:defRPr>
            </a:pPr>
            <a:r>
              <a:t>Position the lab: semantic retrieval first, lexical retrieval second, fusion last.</a:t>
            </a:r>
          </a:p>
          <a:p>
            <a:pPr>
              <a:spcAft>
                <a:spcPts val="180"/>
              </a:spcAft>
              <a:defRPr sz="1800">
                <a:solidFill>
                  <a:srgbClr val="1F2937"/>
                </a:solidFill>
                <a:latin typeface="Aptos"/>
              </a:defRPr>
            </a:pPr>
            <a:r>
              <a:t>State the contract: Set-LabEnvironment.ps1 populates names; notebooks should not be edited per student.</a:t>
            </a:r>
          </a:p>
          <a:p>
            <a:pPr>
              <a:spcAft>
                <a:spcPts val="180"/>
              </a:spcAft>
              <a:defRPr sz="1800">
                <a:solidFill>
                  <a:srgbClr val="1F2937"/>
                </a:solidFill>
                <a:latin typeface="Aptos"/>
              </a:defRPr>
            </a:pPr>
            <a:r>
              <a:t>Call out identity: AzureCliCredential obtains tokens for DocumentDB and Cognitive Services.</a:t>
            </a:r>
          </a:p>
          <a:p>
            <a:pPr>
              <a:spcAft>
                <a:spcPts val="180"/>
              </a:spcAft>
              <a:defRPr sz="1800">
                <a:solidFill>
                  <a:srgbClr val="1F2937"/>
                </a:solidFill>
                <a:latin typeface="Aptos"/>
              </a:defRPr>
            </a:pPr>
            <a:r>
              <a:t>Set expectation: unavailable BM25/hybrid is not a lab failure; it is a capability boundary.</a:t>
            </a:r>
          </a:p>
        </p:txBody>
      </p:sp>
      <p:sp>
        <p:nvSpPr>
          <p:cNvPr id="7" name="Rounded Rectangle 6"/>
          <p:cNvSpPr/>
          <p:nvPr/>
        </p:nvSpPr>
        <p:spPr>
          <a:xfrm>
            <a:off x="868680" y="4572000"/>
            <a:ext cx="1920240" cy="45720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Say this plainly</a:t>
            </a:r>
          </a:p>
        </p:txBody>
      </p:sp>
      <p:sp>
        <p:nvSpPr>
          <p:cNvPr id="8" name="TextBox 7"/>
          <p:cNvSpPr txBox="1"/>
          <p:nvPr/>
        </p:nvSpPr>
        <p:spPr>
          <a:xfrm>
            <a:off x="3063240" y="4517136"/>
            <a:ext cx="7863840" cy="685800"/>
          </a:xfrm>
          <a:prstGeom prst="rect">
            <a:avLst/>
          </a:prstGeom>
          <a:noFill/>
        </p:spPr>
        <p:txBody>
          <a:bodyPr wrap="square" lIns="45720" rIns="45720" tIns="27432" bIns="27432">
            <a:spAutoFit/>
          </a:bodyPr>
          <a:lstStyle/>
          <a:p>
            <a:r>
              <a:rPr sz="1800" b="0">
                <a:solidFill>
                  <a:srgbClr val="143156"/>
                </a:solidFill>
                <a:latin typeface="Aptos"/>
              </a:rPr>
              <a:t>If full-text search is gated, we will not fake it. We will execute the vector path and inspect the BM25/hybrid query contracts as production design material.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4</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Lab 4 technical flow</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What each notebook block is proving.</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28800"/>
            <a:ext cx="1143000" cy="77724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1
Connect</a:t>
            </a:r>
          </a:p>
        </p:txBody>
      </p:sp>
      <p:sp>
        <p:nvSpPr>
          <p:cNvPr id="7" name="Rounded Rectangle 6"/>
          <p:cNvSpPr/>
          <p:nvPr/>
        </p:nvSpPr>
        <p:spPr>
          <a:xfrm>
            <a:off x="2148840" y="1828800"/>
            <a:ext cx="1143000" cy="77724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2
Load docs</a:t>
            </a:r>
          </a:p>
        </p:txBody>
      </p:sp>
      <p:sp>
        <p:nvSpPr>
          <p:cNvPr id="8" name="Rounded Rectangle 7"/>
          <p:cNvSpPr/>
          <p:nvPr/>
        </p:nvSpPr>
        <p:spPr>
          <a:xfrm>
            <a:off x="3611880" y="1828800"/>
            <a:ext cx="1508760" cy="77724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3
Generate embeddings</a:t>
            </a:r>
          </a:p>
        </p:txBody>
      </p:sp>
      <p:sp>
        <p:nvSpPr>
          <p:cNvPr id="9" name="Rounded Rectangle 8"/>
          <p:cNvSpPr/>
          <p:nvPr/>
        </p:nvSpPr>
        <p:spPr>
          <a:xfrm>
            <a:off x="5440680" y="1828800"/>
            <a:ext cx="1600200" cy="77724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4
Create vector index</a:t>
            </a:r>
          </a:p>
        </p:txBody>
      </p:sp>
      <p:sp>
        <p:nvSpPr>
          <p:cNvPr id="10" name="Rounded Rectangle 9"/>
          <p:cNvSpPr/>
          <p:nvPr/>
        </p:nvSpPr>
        <p:spPr>
          <a:xfrm>
            <a:off x="7360920" y="1828800"/>
            <a:ext cx="1508760" cy="77724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5
Run vector query</a:t>
            </a:r>
          </a:p>
        </p:txBody>
      </p:sp>
      <p:sp>
        <p:nvSpPr>
          <p:cNvPr id="11" name="Rounded Rectangle 10"/>
          <p:cNvSpPr/>
          <p:nvPr/>
        </p:nvSpPr>
        <p:spPr>
          <a:xfrm>
            <a:off x="9189720" y="1828800"/>
            <a:ext cx="2148840" cy="777240"/>
          </a:xfrm>
          <a:prstGeom prst="roundRect">
            <a:avLst/>
          </a:prstGeom>
          <a:solidFill>
            <a:srgbClr val="FEE2E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6
Talk through BM25/hybrid</a:t>
            </a:r>
          </a:p>
        </p:txBody>
      </p:sp>
      <p:cxnSp>
        <p:nvCxnSpPr>
          <p:cNvPr id="12" name="Connector 11"/>
          <p:cNvCxnSpPr/>
          <p:nvPr/>
        </p:nvCxnSpPr>
        <p:spPr>
          <a:xfrm>
            <a:off x="1828800" y="2221992"/>
            <a:ext cx="32004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91840" y="2221992"/>
            <a:ext cx="32004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20640" y="2221992"/>
            <a:ext cx="320039"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040880" y="2221992"/>
            <a:ext cx="32004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69680" y="2221992"/>
            <a:ext cx="320039"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005840" y="3337560"/>
            <a:ext cx="10332720" cy="1645920"/>
          </a:xfrm>
          <a:prstGeom prst="rect">
            <a:avLst/>
          </a:prstGeom>
          <a:noFill/>
        </p:spPr>
        <p:txBody>
          <a:bodyPr wrap="square" lIns="45720" rIns="45720" tIns="27432" bIns="27432">
            <a:spAutoFit/>
          </a:bodyPr>
          <a:lstStyle/>
          <a:p>
            <a:pPr>
              <a:spcAft>
                <a:spcPts val="180"/>
              </a:spcAft>
              <a:defRPr sz="1500">
                <a:solidFill>
                  <a:srgbClr val="1F2937"/>
                </a:solidFill>
                <a:latin typeface="Aptos"/>
              </a:defRPr>
            </a:pPr>
            <a:r>
              <a:t>Connect: token scopes and env variables are correct.</a:t>
            </a:r>
          </a:p>
          <a:p>
            <a:pPr>
              <a:spcAft>
                <a:spcPts val="180"/>
              </a:spcAft>
              <a:defRPr sz="1500">
                <a:solidFill>
                  <a:srgbClr val="1F2937"/>
                </a:solidFill>
                <a:latin typeface="Aptos"/>
              </a:defRPr>
            </a:pPr>
            <a:r>
              <a:t>Load: documents preserve fields used by lexical search later.</a:t>
            </a:r>
          </a:p>
          <a:p>
            <a:pPr>
              <a:spcAft>
                <a:spcPts val="180"/>
              </a:spcAft>
              <a:defRPr sz="1500">
                <a:solidFill>
                  <a:srgbClr val="1F2937"/>
                </a:solidFill>
                <a:latin typeface="Aptos"/>
              </a:defRPr>
            </a:pPr>
            <a:r>
              <a:t>Embed: query and document vectors must come from the same model.</a:t>
            </a:r>
          </a:p>
          <a:p>
            <a:pPr>
              <a:spcAft>
                <a:spcPts val="180"/>
              </a:spcAft>
              <a:defRPr sz="1500">
                <a:solidFill>
                  <a:srgbClr val="1F2937"/>
                </a:solidFill>
                <a:latin typeface="Aptos"/>
              </a:defRPr>
            </a:pPr>
            <a:r>
              <a:t>Index: vector index shape is the latency/recall tradeoff point.</a:t>
            </a:r>
          </a:p>
          <a:p>
            <a:pPr>
              <a:spcAft>
                <a:spcPts val="180"/>
              </a:spcAft>
              <a:defRPr sz="1500">
                <a:solidFill>
                  <a:srgbClr val="1F2937"/>
                </a:solidFill>
                <a:latin typeface="Aptos"/>
              </a:defRPr>
            </a:pPr>
            <a:r>
              <a:t>Preview search: BM25/hybrid are query contracts when feature access is blocked.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4</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When BM25 is unavailable</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Turn a blocked query into an engineering explanation.</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828800"/>
            <a:ext cx="2148840" cy="822960"/>
          </a:xfrm>
          <a:prstGeom prst="roundRect">
            <a:avLst/>
          </a:prstGeom>
          <a:solidFill>
            <a:srgbClr val="FEE2E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Service capability
Full-text preview</a:t>
            </a:r>
          </a:p>
        </p:txBody>
      </p:sp>
      <p:sp>
        <p:nvSpPr>
          <p:cNvPr id="7" name="Rounded Rectangle 6"/>
          <p:cNvSpPr/>
          <p:nvPr/>
        </p:nvSpPr>
        <p:spPr>
          <a:xfrm>
            <a:off x="3383280" y="1828800"/>
            <a:ext cx="2331720" cy="82296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Index contract
textSearch / analyzer / path</a:t>
            </a:r>
          </a:p>
        </p:txBody>
      </p:sp>
      <p:sp>
        <p:nvSpPr>
          <p:cNvPr id="8" name="Rounded Rectangle 7"/>
          <p:cNvSpPr/>
          <p:nvPr/>
        </p:nvSpPr>
        <p:spPr>
          <a:xfrm>
            <a:off x="6172200" y="1828800"/>
            <a:ext cx="2331720" cy="82296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Query contract
$search text / phrase / fuzzy</a:t>
            </a:r>
          </a:p>
        </p:txBody>
      </p:sp>
      <p:sp>
        <p:nvSpPr>
          <p:cNvPr id="9" name="Rounded Rectangle 8"/>
          <p:cNvSpPr/>
          <p:nvPr/>
        </p:nvSpPr>
        <p:spPr>
          <a:xfrm>
            <a:off x="8961120" y="1828800"/>
            <a:ext cx="2148840" cy="82296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Fallback
vector-only retrieval</a:t>
            </a:r>
          </a:p>
        </p:txBody>
      </p:sp>
      <p:cxnSp>
        <p:nvCxnSpPr>
          <p:cNvPr id="10" name="Connector 9"/>
          <p:cNvCxnSpPr/>
          <p:nvPr/>
        </p:nvCxnSpPr>
        <p:spPr>
          <a:xfrm>
            <a:off x="2926080" y="2240280"/>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15000" y="2240280"/>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503920" y="2240280"/>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05840" y="3429000"/>
            <a:ext cx="10058400" cy="1554480"/>
          </a:xfrm>
          <a:prstGeom prst="rect">
            <a:avLst/>
          </a:prstGeom>
          <a:noFill/>
        </p:spPr>
        <p:txBody>
          <a:bodyPr wrap="square" lIns="45720" rIns="45720" tIns="27432" bIns="27432">
            <a:spAutoFit/>
          </a:bodyPr>
          <a:lstStyle/>
          <a:p>
            <a:pPr>
              <a:spcAft>
                <a:spcPts val="180"/>
              </a:spcAft>
              <a:defRPr sz="1700">
                <a:solidFill>
                  <a:srgbClr val="1F2937"/>
                </a:solidFill>
                <a:latin typeface="Aptos"/>
              </a:defRPr>
            </a:pPr>
            <a:r>
              <a:t>BM25 is lexical relevance, not semantic similarity.</a:t>
            </a:r>
          </a:p>
          <a:p>
            <a:pPr>
              <a:spcAft>
                <a:spcPts val="180"/>
              </a:spcAft>
              <a:defRPr sz="1700">
                <a:solidFill>
                  <a:srgbClr val="1F2937"/>
                </a:solidFill>
                <a:latin typeface="Aptos"/>
              </a:defRPr>
            </a:pPr>
            <a:r>
              <a:t>If unavailable, show the intended index/query shape and continue.</a:t>
            </a:r>
          </a:p>
          <a:p>
            <a:pPr>
              <a:spcAft>
                <a:spcPts val="180"/>
              </a:spcAft>
              <a:defRPr sz="1700">
                <a:solidFill>
                  <a:srgbClr val="1F2937"/>
                </a:solidFill>
                <a:latin typeface="Aptos"/>
              </a:defRPr>
            </a:pPr>
            <a:r>
              <a:t>Use vector search output to discuss recall and ranking behavior.</a:t>
            </a:r>
          </a:p>
          <a:p>
            <a:pPr>
              <a:spcAft>
                <a:spcPts val="180"/>
              </a:spcAft>
              <a:defRPr sz="1700">
                <a:solidFill>
                  <a:srgbClr val="1F2937"/>
                </a:solidFill>
                <a:latin typeface="Aptos"/>
              </a:defRPr>
            </a:pPr>
            <a:r>
              <a:t>Production question: how would you compare BM25, vector, and fused results offline?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4</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Hybrid search without executing hybrid</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Explain fusion as a ranking algorithm, not magic in the database.</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2057400" cy="82296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Vector list
semantic neighbors</a:t>
            </a:r>
          </a:p>
        </p:txBody>
      </p:sp>
      <p:sp>
        <p:nvSpPr>
          <p:cNvPr id="7" name="Rounded Rectangle 6"/>
          <p:cNvSpPr/>
          <p:nvPr/>
        </p:nvSpPr>
        <p:spPr>
          <a:xfrm>
            <a:off x="914400" y="3063240"/>
            <a:ext cx="2057400" cy="82296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BM25 list
lexical matches</a:t>
            </a:r>
          </a:p>
        </p:txBody>
      </p:sp>
      <p:sp>
        <p:nvSpPr>
          <p:cNvPr id="8" name="Rounded Rectangle 7"/>
          <p:cNvSpPr/>
          <p:nvPr/>
        </p:nvSpPr>
        <p:spPr>
          <a:xfrm>
            <a:off x="4069080" y="2441448"/>
            <a:ext cx="1920240" cy="82296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RRF
1 / (k + rank)</a:t>
            </a:r>
          </a:p>
        </p:txBody>
      </p:sp>
      <p:sp>
        <p:nvSpPr>
          <p:cNvPr id="9" name="Rounded Rectangle 8"/>
          <p:cNvSpPr/>
          <p:nvPr/>
        </p:nvSpPr>
        <p:spPr>
          <a:xfrm>
            <a:off x="7086600" y="2441448"/>
            <a:ext cx="2148840" cy="82296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Final ranking
merged context</a:t>
            </a:r>
          </a:p>
        </p:txBody>
      </p:sp>
      <p:sp>
        <p:nvSpPr>
          <p:cNvPr id="10" name="Rounded Rectangle 9"/>
          <p:cNvSpPr/>
          <p:nvPr/>
        </p:nvSpPr>
        <p:spPr>
          <a:xfrm>
            <a:off x="9921240" y="2441448"/>
            <a:ext cx="1508760" cy="822960"/>
          </a:xfrm>
          <a:prstGeom prst="roundRect">
            <a:avLst/>
          </a:prstGeom>
          <a:solidFill>
            <a:srgbClr val="FEE2E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LLM-ready evidence
top chunks/docs</a:t>
            </a:r>
          </a:p>
        </p:txBody>
      </p:sp>
      <p:cxnSp>
        <p:nvCxnSpPr>
          <p:cNvPr id="11" name="Connector 10"/>
          <p:cNvCxnSpPr/>
          <p:nvPr/>
        </p:nvCxnSpPr>
        <p:spPr>
          <a:xfrm>
            <a:off x="2971800" y="2240280"/>
            <a:ext cx="1097280" cy="50292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971800" y="2880360"/>
            <a:ext cx="1097280" cy="59436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89320" y="2852928"/>
            <a:ext cx="10972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35440" y="2852928"/>
            <a:ext cx="6858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60120" y="4709160"/>
            <a:ext cx="10424160" cy="914400"/>
          </a:xfrm>
          <a:prstGeom prst="rect">
            <a:avLst/>
          </a:prstGeom>
          <a:noFill/>
        </p:spPr>
        <p:txBody>
          <a:bodyPr wrap="square" lIns="45720" rIns="45720" tIns="27432" bIns="27432">
            <a:spAutoFit/>
          </a:bodyPr>
          <a:lstStyle/>
          <a:p>
            <a:pPr>
              <a:spcAft>
                <a:spcPts val="180"/>
              </a:spcAft>
              <a:defRPr sz="1500">
                <a:solidFill>
                  <a:srgbClr val="1F2937"/>
                </a:solidFill>
                <a:latin typeface="Aptos"/>
              </a:defRPr>
            </a:pPr>
            <a:r>
              <a:t>Use the diagram when the hybrid cell cannot run.</a:t>
            </a:r>
          </a:p>
          <a:p>
            <a:pPr>
              <a:spcAft>
                <a:spcPts val="180"/>
              </a:spcAft>
              <a:defRPr sz="1500">
                <a:solidFill>
                  <a:srgbClr val="1F2937"/>
                </a:solidFill>
                <a:latin typeface="Aptos"/>
              </a:defRPr>
            </a:pPr>
            <a:r>
              <a:t>Point out that fusion can also be done in application code for controlled experiments.</a:t>
            </a:r>
          </a:p>
          <a:p>
            <a:pPr>
              <a:spcAft>
                <a:spcPts val="180"/>
              </a:spcAft>
              <a:defRPr sz="1500">
                <a:solidFill>
                  <a:srgbClr val="1F2937"/>
                </a:solidFill>
                <a:latin typeface="Aptos"/>
              </a:defRPr>
            </a:pPr>
            <a:r>
              <a:t>Discuss evaluation: labeled queries, click logs, recall@k, precision@k, and answer faithfulness.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4</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Lab 4 close: what the room should retain</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Five-minute synthesis before switching to RAG.</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058400" cy="1920240"/>
          </a:xfrm>
          <a:prstGeom prst="rect">
            <a:avLst/>
          </a:prstGeom>
          <a:noFill/>
        </p:spPr>
        <p:txBody>
          <a:bodyPr wrap="square" lIns="45720" rIns="45720" tIns="27432" bIns="27432">
            <a:spAutoFit/>
          </a:bodyPr>
          <a:lstStyle/>
          <a:p>
            <a:pPr>
              <a:spcAft>
                <a:spcPts val="180"/>
              </a:spcAft>
              <a:defRPr sz="1900">
                <a:solidFill>
                  <a:srgbClr val="1F2937"/>
                </a:solidFill>
                <a:latin typeface="Aptos"/>
              </a:defRPr>
            </a:pPr>
            <a:r>
              <a:t>Vector search is the dependable executable path in this delivery environment.</a:t>
            </a:r>
          </a:p>
          <a:p>
            <a:pPr>
              <a:spcAft>
                <a:spcPts val="180"/>
              </a:spcAft>
              <a:defRPr sz="1900">
                <a:solidFill>
                  <a:srgbClr val="1F2937"/>
                </a:solidFill>
                <a:latin typeface="Aptos"/>
              </a:defRPr>
            </a:pPr>
            <a:r>
              <a:t>BM25 and hybrid are still worth teaching because they explain production retrieval quality.</a:t>
            </a:r>
          </a:p>
          <a:p>
            <a:pPr>
              <a:spcAft>
                <a:spcPts val="180"/>
              </a:spcAft>
              <a:defRPr sz="1900">
                <a:solidFill>
                  <a:srgbClr val="1F2937"/>
                </a:solidFill>
                <a:latin typeface="Aptos"/>
              </a:defRPr>
            </a:pPr>
            <a:r>
              <a:t>The runtime contract is environment-driven: cluster, endpoint, deployment name.</a:t>
            </a:r>
          </a:p>
          <a:p>
            <a:pPr>
              <a:spcAft>
                <a:spcPts val="180"/>
              </a:spcAft>
              <a:defRPr sz="1900">
                <a:solidFill>
                  <a:srgbClr val="1F2937"/>
                </a:solidFill>
                <a:latin typeface="Aptos"/>
              </a:defRPr>
            </a:pPr>
            <a:r>
              <a:t>A good search lab ends with evaluation, not with a single query result.</a:t>
            </a:r>
          </a:p>
        </p:txBody>
      </p:sp>
      <p:sp>
        <p:nvSpPr>
          <p:cNvPr id="7" name="Rounded Rectangle 6"/>
          <p:cNvSpPr/>
          <p:nvPr/>
        </p:nvSpPr>
        <p:spPr>
          <a:xfrm>
            <a:off x="914400" y="4617720"/>
            <a:ext cx="1828800" cy="50292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Bridge to Lab 5</a:t>
            </a:r>
          </a:p>
        </p:txBody>
      </p:sp>
      <p:sp>
        <p:nvSpPr>
          <p:cNvPr id="8" name="TextBox 7"/>
          <p:cNvSpPr txBox="1"/>
          <p:nvPr/>
        </p:nvSpPr>
        <p:spPr>
          <a:xfrm>
            <a:off x="2971800" y="4526280"/>
            <a:ext cx="7955279" cy="685800"/>
          </a:xfrm>
          <a:prstGeom prst="rect">
            <a:avLst/>
          </a:prstGeom>
          <a:noFill/>
        </p:spPr>
        <p:txBody>
          <a:bodyPr wrap="square" lIns="45720" rIns="45720" tIns="27432" bIns="27432">
            <a:spAutoFit/>
          </a:bodyPr>
          <a:lstStyle/>
          <a:p>
            <a:r>
              <a:rPr sz="1800" b="0">
                <a:solidFill>
                  <a:srgbClr val="143156"/>
                </a:solidFill>
                <a:latin typeface="Aptos"/>
              </a:rPr>
              <a:t>Search gives us ranked evidence. RAG turns that evidence into a grounded response pattern with explicit prompt construction.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5</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Lab 5 architecture: RAG over DocumentDB</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The database stores chunks and vectors; the application owns retrieval policy and prompt assembly.</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28800"/>
            <a:ext cx="1417320" cy="68580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Source content</a:t>
            </a:r>
          </a:p>
        </p:txBody>
      </p:sp>
      <p:sp>
        <p:nvSpPr>
          <p:cNvPr id="7" name="Rounded Rectangle 6"/>
          <p:cNvSpPr/>
          <p:nvPr/>
        </p:nvSpPr>
        <p:spPr>
          <a:xfrm>
            <a:off x="2514600" y="1828800"/>
            <a:ext cx="1417320" cy="68580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Chunking
metadata</a:t>
            </a:r>
          </a:p>
        </p:txBody>
      </p:sp>
      <p:sp>
        <p:nvSpPr>
          <p:cNvPr id="8" name="Rounded Rectangle 7"/>
          <p:cNvSpPr/>
          <p:nvPr/>
        </p:nvSpPr>
        <p:spPr>
          <a:xfrm>
            <a:off x="4343400" y="1828800"/>
            <a:ext cx="1417320" cy="68580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Embeddings</a:t>
            </a:r>
          </a:p>
        </p:txBody>
      </p:sp>
      <p:sp>
        <p:nvSpPr>
          <p:cNvPr id="9" name="Rounded Rectangle 8"/>
          <p:cNvSpPr/>
          <p:nvPr/>
        </p:nvSpPr>
        <p:spPr>
          <a:xfrm>
            <a:off x="6172200" y="1828800"/>
            <a:ext cx="1600200" cy="68580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DocumentDB
rag_chunks</a:t>
            </a:r>
          </a:p>
        </p:txBody>
      </p:sp>
      <p:sp>
        <p:nvSpPr>
          <p:cNvPr id="10" name="Rounded Rectangle 9"/>
          <p:cNvSpPr/>
          <p:nvPr/>
        </p:nvSpPr>
        <p:spPr>
          <a:xfrm>
            <a:off x="8229600" y="1828800"/>
            <a:ext cx="1417320" cy="68580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Retriever
vector-first</a:t>
            </a:r>
          </a:p>
        </p:txBody>
      </p:sp>
      <p:sp>
        <p:nvSpPr>
          <p:cNvPr id="11" name="Rounded Rectangle 10"/>
          <p:cNvSpPr/>
          <p:nvPr/>
        </p:nvSpPr>
        <p:spPr>
          <a:xfrm>
            <a:off x="10058400" y="1828800"/>
            <a:ext cx="1325880" cy="68580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Prompt
answer</a:t>
            </a:r>
          </a:p>
        </p:txBody>
      </p:sp>
      <p:cxnSp>
        <p:nvCxnSpPr>
          <p:cNvPr id="12" name="Connector 11"/>
          <p:cNvCxnSpPr/>
          <p:nvPr/>
        </p:nvCxnSpPr>
        <p:spPr>
          <a:xfrm>
            <a:off x="2103120" y="2176272"/>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931920" y="2176272"/>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60720" y="2176272"/>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72400" y="2176272"/>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646920" y="2176272"/>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3657600"/>
            <a:ext cx="10241280" cy="1554480"/>
          </a:xfrm>
          <a:prstGeom prst="rect">
            <a:avLst/>
          </a:prstGeom>
          <a:noFill/>
        </p:spPr>
        <p:txBody>
          <a:bodyPr wrap="square" lIns="45720" rIns="45720" tIns="27432" bIns="27432">
            <a:spAutoFit/>
          </a:bodyPr>
          <a:lstStyle/>
          <a:p>
            <a:pPr>
              <a:spcAft>
                <a:spcPts val="180"/>
              </a:spcAft>
              <a:defRPr sz="1600">
                <a:solidFill>
                  <a:srgbClr val="1F2937"/>
                </a:solidFill>
                <a:latin typeface="Aptos"/>
              </a:defRPr>
            </a:pPr>
            <a:r>
              <a:t>DocumentDB is both operational store and retrieval store for this workshop pattern.</a:t>
            </a:r>
          </a:p>
          <a:p>
            <a:pPr>
              <a:spcAft>
                <a:spcPts val="180"/>
              </a:spcAft>
              <a:defRPr sz="1600">
                <a:solidFill>
                  <a:srgbClr val="1F2937"/>
                </a:solidFill>
                <a:latin typeface="Aptos"/>
              </a:defRPr>
            </a:pPr>
            <a:r>
              <a:t>Chunk metadata is how you explain source attribution and debugging.</a:t>
            </a:r>
          </a:p>
          <a:p>
            <a:pPr>
              <a:spcAft>
                <a:spcPts val="180"/>
              </a:spcAft>
              <a:defRPr sz="1600">
                <a:solidFill>
                  <a:srgbClr val="1F2937"/>
                </a:solidFill>
                <a:latin typeface="Aptos"/>
              </a:defRPr>
            </a:pPr>
            <a:r>
              <a:t>Retriever behavior is policy: top-k, filters, thresholds, and fallback strategy.</a:t>
            </a:r>
          </a:p>
          <a:p>
            <a:pPr>
              <a:spcAft>
                <a:spcPts val="180"/>
              </a:spcAft>
              <a:defRPr sz="1600">
                <a:solidFill>
                  <a:srgbClr val="1F2937"/>
                </a:solidFill>
                <a:latin typeface="Aptos"/>
              </a:defRPr>
            </a:pPr>
            <a:r>
              <a:t>Prompt construction should make evidence boundaries visible.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5</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Lab 5 30-minute pacing</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Keep the room out of low-value typing and inside the architecture.</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828800"/>
            <a:ext cx="2103120"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30-33
Bridge</a:t>
            </a:r>
          </a:p>
        </p:txBody>
      </p:sp>
      <p:sp>
        <p:nvSpPr>
          <p:cNvPr id="7" name="Rounded Rectangle 6"/>
          <p:cNvSpPr/>
          <p:nvPr/>
        </p:nvSpPr>
        <p:spPr>
          <a:xfrm>
            <a:off x="2816352" y="1828800"/>
            <a:ext cx="2103120"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33-40
Chunks + embeddings</a:t>
            </a:r>
          </a:p>
        </p:txBody>
      </p:sp>
      <p:sp>
        <p:nvSpPr>
          <p:cNvPr id="8" name="Rounded Rectangle 7"/>
          <p:cNvSpPr/>
          <p:nvPr/>
        </p:nvSpPr>
        <p:spPr>
          <a:xfrm>
            <a:off x="4992624" y="1828800"/>
            <a:ext cx="2103120"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40-48
Retriever</a:t>
            </a:r>
          </a:p>
        </p:txBody>
      </p:sp>
      <p:sp>
        <p:nvSpPr>
          <p:cNvPr id="9" name="Rounded Rectangle 8"/>
          <p:cNvSpPr/>
          <p:nvPr/>
        </p:nvSpPr>
        <p:spPr>
          <a:xfrm>
            <a:off x="7168896" y="1828800"/>
            <a:ext cx="2103120" cy="384048"/>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48-55
Prompt</a:t>
            </a:r>
          </a:p>
        </p:txBody>
      </p:sp>
      <p:sp>
        <p:nvSpPr>
          <p:cNvPr id="10" name="Rounded Rectangle 9"/>
          <p:cNvSpPr/>
          <p:nvPr/>
        </p:nvSpPr>
        <p:spPr>
          <a:xfrm>
            <a:off x="9345167" y="1828800"/>
            <a:ext cx="2103120" cy="384048"/>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900" b="1">
                <a:solidFill>
                  <a:srgbClr val="1F2937"/>
                </a:solidFill>
                <a:latin typeface="Aptos"/>
              </a:rPr>
              <a:t>55-60
Production review</a:t>
            </a:r>
          </a:p>
        </p:txBody>
      </p:sp>
      <p:sp>
        <p:nvSpPr>
          <p:cNvPr id="11" name="TextBox 10"/>
          <p:cNvSpPr txBox="1"/>
          <p:nvPr/>
        </p:nvSpPr>
        <p:spPr>
          <a:xfrm>
            <a:off x="914400" y="2880360"/>
            <a:ext cx="10058400" cy="1737360"/>
          </a:xfrm>
          <a:prstGeom prst="rect">
            <a:avLst/>
          </a:prstGeom>
          <a:noFill/>
        </p:spPr>
        <p:txBody>
          <a:bodyPr wrap="square" lIns="45720" rIns="45720" tIns="27432" bIns="27432">
            <a:spAutoFit/>
          </a:bodyPr>
          <a:lstStyle/>
          <a:p>
            <a:pPr>
              <a:spcAft>
                <a:spcPts val="180"/>
              </a:spcAft>
              <a:defRPr sz="1800">
                <a:solidFill>
                  <a:srgbClr val="1F2937"/>
                </a:solidFill>
                <a:latin typeface="Aptos"/>
              </a:defRPr>
            </a:pPr>
            <a:r>
              <a:t>Do not spend more than one minute on package or auth issues in the room.</a:t>
            </a:r>
          </a:p>
          <a:p>
            <a:pPr>
              <a:spcAft>
                <a:spcPts val="180"/>
              </a:spcAft>
              <a:defRPr sz="1800">
                <a:solidFill>
                  <a:srgbClr val="1F2937"/>
                </a:solidFill>
                <a:latin typeface="Aptos"/>
              </a:defRPr>
            </a:pPr>
            <a:r>
              <a:t>Use printed query shapes and diagrams for preview-gated features.</a:t>
            </a:r>
          </a:p>
          <a:p>
            <a:pPr>
              <a:spcAft>
                <a:spcPts val="180"/>
              </a:spcAft>
              <a:defRPr sz="1800">
                <a:solidFill>
                  <a:srgbClr val="1F2937"/>
                </a:solidFill>
                <a:latin typeface="Aptos"/>
              </a:defRPr>
            </a:pPr>
            <a:r>
              <a:t>Make students name the evidence set before talking about the answer.</a:t>
            </a:r>
          </a:p>
          <a:p>
            <a:pPr>
              <a:spcAft>
                <a:spcPts val="180"/>
              </a:spcAft>
              <a:defRPr sz="1800">
                <a:solidFill>
                  <a:srgbClr val="1F2937"/>
                </a:solidFill>
                <a:latin typeface="Aptos"/>
              </a:defRPr>
            </a:pPr>
            <a:r>
              <a:t>Close with observability: failed auth, empty retrieval, poor ranking, and hallucination risk.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5</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Chunking is the first retrieval decision</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RAG quality is shaped before the vector index exists.</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920240"/>
            <a:ext cx="1417320" cy="64008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Document</a:t>
            </a:r>
          </a:p>
        </p:txBody>
      </p:sp>
      <p:cxnSp>
        <p:nvCxnSpPr>
          <p:cNvPr id="7" name="Connector 6"/>
          <p:cNvCxnSpPr/>
          <p:nvPr/>
        </p:nvCxnSpPr>
        <p:spPr>
          <a:xfrm>
            <a:off x="2286000" y="2240280"/>
            <a:ext cx="59436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80360" y="1737360"/>
            <a:ext cx="1188720" cy="64008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100" b="1">
                <a:solidFill>
                  <a:srgbClr val="1F2937"/>
                </a:solidFill>
                <a:latin typeface="Aptos"/>
              </a:rPr>
              <a:t>Chunk 1
text + metadata</a:t>
            </a:r>
          </a:p>
        </p:txBody>
      </p:sp>
      <p:sp>
        <p:nvSpPr>
          <p:cNvPr id="9" name="Rounded Rectangle 8"/>
          <p:cNvSpPr/>
          <p:nvPr/>
        </p:nvSpPr>
        <p:spPr>
          <a:xfrm>
            <a:off x="4389120" y="2423160"/>
            <a:ext cx="1188720" cy="64008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100" b="1">
                <a:solidFill>
                  <a:srgbClr val="1F2937"/>
                </a:solidFill>
                <a:latin typeface="Aptos"/>
              </a:rPr>
              <a:t>Chunk 2
text + metadata</a:t>
            </a:r>
          </a:p>
        </p:txBody>
      </p:sp>
      <p:sp>
        <p:nvSpPr>
          <p:cNvPr id="10" name="Rounded Rectangle 9"/>
          <p:cNvSpPr/>
          <p:nvPr/>
        </p:nvSpPr>
        <p:spPr>
          <a:xfrm>
            <a:off x="5897879" y="1737360"/>
            <a:ext cx="1188720" cy="64008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100" b="1">
                <a:solidFill>
                  <a:srgbClr val="1F2937"/>
                </a:solidFill>
                <a:latin typeface="Aptos"/>
              </a:rPr>
              <a:t>Chunk 3
text + metadata</a:t>
            </a:r>
          </a:p>
        </p:txBody>
      </p:sp>
      <p:sp>
        <p:nvSpPr>
          <p:cNvPr id="11" name="Rounded Rectangle 10"/>
          <p:cNvSpPr/>
          <p:nvPr/>
        </p:nvSpPr>
        <p:spPr>
          <a:xfrm>
            <a:off x="7406640" y="2423160"/>
            <a:ext cx="1188720" cy="64008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100" b="1">
                <a:solidFill>
                  <a:srgbClr val="1F2937"/>
                </a:solidFill>
                <a:latin typeface="Aptos"/>
              </a:rPr>
              <a:t>Chunk 4
text + metadata</a:t>
            </a:r>
          </a:p>
        </p:txBody>
      </p:sp>
      <p:cxnSp>
        <p:nvCxnSpPr>
          <p:cNvPr id="12" name="Connector 11"/>
          <p:cNvCxnSpPr/>
          <p:nvPr/>
        </p:nvCxnSpPr>
        <p:spPr>
          <a:xfrm>
            <a:off x="8915400" y="2240280"/>
            <a:ext cx="73152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46920" y="1920240"/>
            <a:ext cx="1600200" cy="64008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Embed + store
rag_chunks</a:t>
            </a:r>
          </a:p>
        </p:txBody>
      </p:sp>
      <p:sp>
        <p:nvSpPr>
          <p:cNvPr id="14" name="TextBox 13"/>
          <p:cNvSpPr txBox="1"/>
          <p:nvPr/>
        </p:nvSpPr>
        <p:spPr>
          <a:xfrm>
            <a:off x="914400" y="3840480"/>
            <a:ext cx="10241280" cy="1371600"/>
          </a:xfrm>
          <a:prstGeom prst="rect">
            <a:avLst/>
          </a:prstGeom>
          <a:noFill/>
        </p:spPr>
        <p:txBody>
          <a:bodyPr wrap="square" lIns="45720" rIns="45720" tIns="27432" bIns="27432">
            <a:spAutoFit/>
          </a:bodyPr>
          <a:lstStyle/>
          <a:p>
            <a:pPr>
              <a:spcAft>
                <a:spcPts val="180"/>
              </a:spcAft>
              <a:defRPr sz="1700">
                <a:solidFill>
                  <a:srgbClr val="1F2937"/>
                </a:solidFill>
                <a:latin typeface="Aptos"/>
              </a:defRPr>
            </a:pPr>
            <a:r>
              <a:t>Chunk size is a precision/recall tradeoff.</a:t>
            </a:r>
          </a:p>
          <a:p>
            <a:pPr>
              <a:spcAft>
                <a:spcPts val="180"/>
              </a:spcAft>
              <a:defRPr sz="1700">
                <a:solidFill>
                  <a:srgbClr val="1F2937"/>
                </a:solidFill>
                <a:latin typeface="Aptos"/>
              </a:defRPr>
            </a:pPr>
            <a:r>
              <a:t>Metadata enables filtering and attribution.</a:t>
            </a:r>
          </a:p>
          <a:p>
            <a:pPr>
              <a:spcAft>
                <a:spcPts val="180"/>
              </a:spcAft>
              <a:defRPr sz="1700">
                <a:solidFill>
                  <a:srgbClr val="1F2937"/>
                </a:solidFill>
                <a:latin typeface="Aptos"/>
              </a:defRPr>
            </a:pPr>
            <a:r>
              <a:t>Stable chunk IDs make repeated loads and evaluations sane.</a:t>
            </a:r>
          </a:p>
          <a:p>
            <a:pPr>
              <a:spcAft>
                <a:spcPts val="180"/>
              </a:spcAft>
              <a:defRPr sz="1700">
                <a:solidFill>
                  <a:srgbClr val="1F2937"/>
                </a:solidFill>
                <a:latin typeface="Aptos"/>
              </a:defRPr>
            </a:pPr>
            <a:r>
              <a:t>For the walkthrough, focus on why each field exists in the stored document.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5</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Retriever flow when hybrid is unavailable</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Keep retrieval live with vector search, then explain the hybrid insertion point.</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74519"/>
            <a:ext cx="1645920" cy="68580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User question</a:t>
            </a:r>
          </a:p>
        </p:txBody>
      </p:sp>
      <p:sp>
        <p:nvSpPr>
          <p:cNvPr id="7" name="Rounded Rectangle 6"/>
          <p:cNvSpPr/>
          <p:nvPr/>
        </p:nvSpPr>
        <p:spPr>
          <a:xfrm>
            <a:off x="2834640" y="1874519"/>
            <a:ext cx="1508760" cy="68580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Embed query</a:t>
            </a:r>
          </a:p>
        </p:txBody>
      </p:sp>
      <p:sp>
        <p:nvSpPr>
          <p:cNvPr id="8" name="Rounded Rectangle 7"/>
          <p:cNvSpPr/>
          <p:nvPr/>
        </p:nvSpPr>
        <p:spPr>
          <a:xfrm>
            <a:off x="4800600" y="1417320"/>
            <a:ext cx="1554480" cy="68580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Vector top-k</a:t>
            </a:r>
          </a:p>
        </p:txBody>
      </p:sp>
      <p:sp>
        <p:nvSpPr>
          <p:cNvPr id="9" name="Rounded Rectangle 8"/>
          <p:cNvSpPr/>
          <p:nvPr/>
        </p:nvSpPr>
        <p:spPr>
          <a:xfrm>
            <a:off x="4800600" y="2514600"/>
            <a:ext cx="1554480" cy="685800"/>
          </a:xfrm>
          <a:prstGeom prst="roundRect">
            <a:avLst/>
          </a:prstGeom>
          <a:solidFill>
            <a:srgbClr val="FEE2E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BM25 top-k
if enabled</a:t>
            </a:r>
          </a:p>
        </p:txBody>
      </p:sp>
      <p:sp>
        <p:nvSpPr>
          <p:cNvPr id="10" name="Rounded Rectangle 9"/>
          <p:cNvSpPr/>
          <p:nvPr/>
        </p:nvSpPr>
        <p:spPr>
          <a:xfrm>
            <a:off x="6949440" y="1874519"/>
            <a:ext cx="1508760" cy="68580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Merge / rank</a:t>
            </a:r>
          </a:p>
        </p:txBody>
      </p:sp>
      <p:sp>
        <p:nvSpPr>
          <p:cNvPr id="11" name="Rounded Rectangle 10"/>
          <p:cNvSpPr/>
          <p:nvPr/>
        </p:nvSpPr>
        <p:spPr>
          <a:xfrm>
            <a:off x="8915400" y="1874519"/>
            <a:ext cx="1600200" cy="68580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Prompt context</a:t>
            </a:r>
          </a:p>
        </p:txBody>
      </p:sp>
      <p:sp>
        <p:nvSpPr>
          <p:cNvPr id="12" name="Rounded Rectangle 11"/>
          <p:cNvSpPr/>
          <p:nvPr/>
        </p:nvSpPr>
        <p:spPr>
          <a:xfrm>
            <a:off x="10835640" y="1874519"/>
            <a:ext cx="822960" cy="68580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Answer</a:t>
            </a:r>
          </a:p>
        </p:txBody>
      </p:sp>
      <p:cxnSp>
        <p:nvCxnSpPr>
          <p:cNvPr id="13" name="Connector 12"/>
          <p:cNvCxnSpPr/>
          <p:nvPr/>
        </p:nvCxnSpPr>
        <p:spPr>
          <a:xfrm>
            <a:off x="2377440" y="2221992"/>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343400" y="1783080"/>
            <a:ext cx="457200" cy="438912"/>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343400" y="2221992"/>
            <a:ext cx="457200" cy="658368"/>
          </a:xfrm>
          <a:prstGeom prst="line">
            <a:avLst/>
          </a:prstGeom>
          <a:ln w="2032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355080" y="1783080"/>
            <a:ext cx="594360" cy="438912"/>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355080" y="2221992"/>
            <a:ext cx="594360" cy="658368"/>
          </a:xfrm>
          <a:prstGeom prst="line">
            <a:avLst/>
          </a:prstGeom>
          <a:ln w="20320">
            <a:solidFill>
              <a:srgbClr val="B91C1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458200" y="2221992"/>
            <a:ext cx="45720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515600" y="2221992"/>
            <a:ext cx="32004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4400" y="4160520"/>
            <a:ext cx="10149840" cy="1097280"/>
          </a:xfrm>
          <a:prstGeom prst="rect">
            <a:avLst/>
          </a:prstGeom>
          <a:noFill/>
        </p:spPr>
        <p:txBody>
          <a:bodyPr wrap="square" lIns="45720" rIns="45720" tIns="27432" bIns="27432">
            <a:spAutoFit/>
          </a:bodyPr>
          <a:lstStyle/>
          <a:p>
            <a:pPr>
              <a:spcAft>
                <a:spcPts val="180"/>
              </a:spcAft>
              <a:defRPr sz="1700">
                <a:solidFill>
                  <a:srgbClr val="1F2937"/>
                </a:solidFill>
                <a:latin typeface="Aptos"/>
              </a:defRPr>
            </a:pPr>
            <a:r>
              <a:t>Live path: question embedding to vector top-k to prompt context.</a:t>
            </a:r>
          </a:p>
          <a:p>
            <a:pPr>
              <a:spcAft>
                <a:spcPts val="180"/>
              </a:spcAft>
              <a:defRPr sz="1700">
                <a:solidFill>
                  <a:srgbClr val="1F2937"/>
                </a:solidFill>
                <a:latin typeface="Aptos"/>
              </a:defRPr>
            </a:pPr>
            <a:r>
              <a:t>Talk-through path: lexical top-k joins before merge/rank when enabled.</a:t>
            </a:r>
          </a:p>
          <a:p>
            <a:pPr>
              <a:spcAft>
                <a:spcPts val="180"/>
              </a:spcAft>
              <a:defRPr sz="1700">
                <a:solidFill>
                  <a:srgbClr val="1F2937"/>
                </a:solidFill>
                <a:latin typeface="Aptos"/>
              </a:defRPr>
            </a:pPr>
            <a:r>
              <a:t>The prompt and answer stages do not care which retrieval signals produced the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LAB 5</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Prompt assembly: evidence, instruction, question</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Make grounding visible to the audience.</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828800"/>
            <a:ext cx="2103120" cy="822960"/>
          </a:xfrm>
          <a:prstGeom prst="roundRect">
            <a:avLst/>
          </a:prstGeom>
          <a:solidFill>
            <a:srgbClr val="E1EFFF"/>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System instruction
role + constraints</a:t>
            </a:r>
          </a:p>
        </p:txBody>
      </p:sp>
      <p:sp>
        <p:nvSpPr>
          <p:cNvPr id="7" name="Rounded Rectangle 6"/>
          <p:cNvSpPr/>
          <p:nvPr/>
        </p:nvSpPr>
        <p:spPr>
          <a:xfrm>
            <a:off x="3337560" y="1828800"/>
            <a:ext cx="2331720" cy="822960"/>
          </a:xfrm>
          <a:prstGeom prst="roundRect">
            <a:avLst/>
          </a:prstGeom>
          <a:solidFill>
            <a:srgbClr val="E2F6E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Retrieved context
ranked chunks + source</a:t>
            </a:r>
          </a:p>
        </p:txBody>
      </p:sp>
      <p:sp>
        <p:nvSpPr>
          <p:cNvPr id="8" name="Rounded Rectangle 7"/>
          <p:cNvSpPr/>
          <p:nvPr/>
        </p:nvSpPr>
        <p:spPr>
          <a:xfrm>
            <a:off x="6080760" y="1828800"/>
            <a:ext cx="1645920" cy="82296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User question</a:t>
            </a:r>
          </a:p>
        </p:txBody>
      </p:sp>
      <p:sp>
        <p:nvSpPr>
          <p:cNvPr id="9" name="Rounded Rectangle 8"/>
          <p:cNvSpPr/>
          <p:nvPr/>
        </p:nvSpPr>
        <p:spPr>
          <a:xfrm>
            <a:off x="8138160" y="1828800"/>
            <a:ext cx="2240280" cy="822960"/>
          </a:xfrm>
          <a:prstGeom prst="roundRect">
            <a:avLst/>
          </a:prstGeom>
          <a:solidFill>
            <a:srgbClr val="FFF2D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Answer policy
use evidence or say unknown</a:t>
            </a:r>
          </a:p>
        </p:txBody>
      </p:sp>
      <p:sp>
        <p:nvSpPr>
          <p:cNvPr id="10" name="Rounded Rectangle 9"/>
          <p:cNvSpPr/>
          <p:nvPr/>
        </p:nvSpPr>
        <p:spPr>
          <a:xfrm>
            <a:off x="4846320" y="3840480"/>
            <a:ext cx="2514600" cy="777240"/>
          </a:xfrm>
          <a:prstGeom prst="roundRect">
            <a:avLst/>
          </a:prstGeom>
          <a:solidFill>
            <a:srgbClr val="FEE2E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Model response</a:t>
            </a:r>
          </a:p>
        </p:txBody>
      </p:sp>
      <p:cxnSp>
        <p:nvCxnSpPr>
          <p:cNvPr id="11" name="Connector 10"/>
          <p:cNvCxnSpPr/>
          <p:nvPr/>
        </p:nvCxnSpPr>
        <p:spPr>
          <a:xfrm>
            <a:off x="2926080" y="2240280"/>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669280" y="2240280"/>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26679" y="2240280"/>
            <a:ext cx="411480" cy="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080760" y="2651760"/>
            <a:ext cx="3154680" cy="1188720"/>
          </a:xfrm>
          <a:prstGeom prst="line">
            <a:avLst/>
          </a:prstGeom>
          <a:ln w="20320">
            <a:solidFill>
              <a:srgbClr val="00778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5166360"/>
            <a:ext cx="10058400" cy="777240"/>
          </a:xfrm>
          <a:prstGeom prst="rect">
            <a:avLst/>
          </a:prstGeom>
          <a:noFill/>
        </p:spPr>
        <p:txBody>
          <a:bodyPr wrap="square" lIns="45720" rIns="45720" tIns="27432" bIns="27432">
            <a:spAutoFit/>
          </a:bodyPr>
          <a:lstStyle/>
          <a:p>
            <a:pPr>
              <a:spcAft>
                <a:spcPts val="180"/>
              </a:spcAft>
              <a:defRPr sz="1500">
                <a:solidFill>
                  <a:srgbClr val="1F2937"/>
                </a:solidFill>
                <a:latin typeface="Aptos"/>
              </a:defRPr>
            </a:pPr>
            <a:r>
              <a:t>Ask attendees to identify which part is data and which part is policy.</a:t>
            </a:r>
          </a:p>
          <a:p>
            <a:pPr>
              <a:spcAft>
                <a:spcPts val="180"/>
              </a:spcAft>
              <a:defRPr sz="1500">
                <a:solidFill>
                  <a:srgbClr val="1F2937"/>
                </a:solidFill>
                <a:latin typeface="Aptos"/>
              </a:defRPr>
            </a:pPr>
            <a:r>
              <a:t>Call out injection risk: retrieved text is untrusted input.</a:t>
            </a:r>
          </a:p>
          <a:p>
            <a:pPr>
              <a:spcAft>
                <a:spcPts val="180"/>
              </a:spcAft>
              <a:defRPr sz="1500">
                <a:solidFill>
                  <a:srgbClr val="1F2937"/>
                </a:solidFill>
                <a:latin typeface="Aptos"/>
              </a:defRPr>
            </a:pPr>
            <a:r>
              <a:t>Evaluation target: faithfulness to the supplied context, not model fluency.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OPERATIONS</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Troubleshooting script for the room</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Fast triage when a live cell fails.</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607040" cy="2743200"/>
          </a:xfrm>
          <a:prstGeom prst="rect">
            <a:avLst/>
          </a:prstGeom>
          <a:noFill/>
        </p:spPr>
        <p:txBody>
          <a:bodyPr wrap="square" lIns="45720" rIns="45720" tIns="27432" bIns="27432">
            <a:spAutoFit/>
          </a:bodyPr>
          <a:lstStyle/>
          <a:p>
            <a:pPr>
              <a:spcAft>
                <a:spcPts val="180"/>
              </a:spcAft>
              <a:defRPr sz="1700">
                <a:solidFill>
                  <a:srgbClr val="1F2937"/>
                </a:solidFill>
                <a:latin typeface="Aptos"/>
              </a:defRPr>
            </a:pPr>
            <a:r>
              <a:t>Missing env vars: run Set-LabEnvironment.ps1, restart terminal or notebook kernel.</a:t>
            </a:r>
          </a:p>
          <a:p>
            <a:pPr>
              <a:spcAft>
                <a:spcPts val="180"/>
              </a:spcAft>
              <a:defRPr sz="1700">
                <a:solidFill>
                  <a:srgbClr val="1F2937"/>
                </a:solidFill>
                <a:latin typeface="Aptos"/>
              </a:defRPr>
            </a:pPr>
            <a:r>
              <a:t>Embedding deployment not found: setup should use deployment name textembedding3small, not model name text-embedding-3-small.</a:t>
            </a:r>
          </a:p>
          <a:p>
            <a:pPr>
              <a:spcAft>
                <a:spcPts val="180"/>
              </a:spcAft>
              <a:defRPr sz="1700">
                <a:solidFill>
                  <a:srgbClr val="1F2937"/>
                </a:solidFill>
                <a:latin typeface="Aptos"/>
              </a:defRPr>
            </a:pPr>
            <a:r>
              <a:t>OpenAI auth error: endpoint uses Cognitive Services token scope, https://cognitiveservices.azure.com/.default.</a:t>
            </a:r>
          </a:p>
          <a:p>
            <a:pPr>
              <a:spcAft>
                <a:spcPts val="180"/>
              </a:spcAft>
              <a:defRPr sz="1700">
                <a:solidFill>
                  <a:srgbClr val="1F2937"/>
                </a:solidFill>
                <a:latin typeface="Aptos"/>
              </a:defRPr>
            </a:pPr>
            <a:r>
              <a:t>DocumentDB auth error: confirm az login and DocumentDB Entra user/role mapping.</a:t>
            </a:r>
          </a:p>
          <a:p>
            <a:pPr>
              <a:spcAft>
                <a:spcPts val="180"/>
              </a:spcAft>
              <a:defRPr sz="1700">
                <a:solidFill>
                  <a:srgbClr val="1F2937"/>
                </a:solidFill>
                <a:latin typeface="Aptos"/>
              </a:defRPr>
            </a:pPr>
            <a:r>
              <a:t>BM25 or hybrid unavailable: treat the cell as a query-shape walkthrough and continue vector retrieval.</a:t>
            </a:r>
          </a:p>
        </p:txBody>
      </p:sp>
      <p:sp>
        <p:nvSpPr>
          <p:cNvPr id="7" name="Rounded Rectangle 6"/>
          <p:cNvSpPr/>
          <p:nvPr/>
        </p:nvSpPr>
        <p:spPr>
          <a:xfrm>
            <a:off x="868680" y="5212080"/>
            <a:ext cx="1828800" cy="457200"/>
          </a:xfrm>
          <a:prstGeom prst="roundRect">
            <a:avLst/>
          </a:prstGeom>
          <a:solidFill>
            <a:srgbClr val="DAF4F6"/>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lIns="109728" rIns="109728"/>
          <a:lstStyle/>
          <a:p>
            <a:pPr algn="ctr"/>
            <a:r>
              <a:rPr sz="1400" b="1">
                <a:solidFill>
                  <a:srgbClr val="1F2937"/>
                </a:solidFill>
                <a:latin typeface="Aptos"/>
              </a:rPr>
              <a:t>Rule of thumb</a:t>
            </a:r>
          </a:p>
        </p:txBody>
      </p:sp>
      <p:sp>
        <p:nvSpPr>
          <p:cNvPr id="8" name="TextBox 7"/>
          <p:cNvSpPr txBox="1"/>
          <p:nvPr/>
        </p:nvSpPr>
        <p:spPr>
          <a:xfrm>
            <a:off x="2971800" y="5120640"/>
            <a:ext cx="7955279" cy="640080"/>
          </a:xfrm>
          <a:prstGeom prst="rect">
            <a:avLst/>
          </a:prstGeom>
          <a:noFill/>
        </p:spPr>
        <p:txBody>
          <a:bodyPr wrap="square" lIns="45720" rIns="45720" tIns="27432" bIns="27432">
            <a:spAutoFit/>
          </a:bodyPr>
          <a:lstStyle/>
          <a:p>
            <a:r>
              <a:rPr sz="1800" b="0">
                <a:solidFill>
                  <a:srgbClr val="143156"/>
                </a:solidFill>
                <a:latin typeface="Aptos"/>
              </a:rPr>
              <a:t>Do not ask students to edit cluster names or deployment names in notebooks. Fix setup once, then let notebooks consume the contract.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WRAP</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Production design questions</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Use these to close with a senior-engineering conversation.</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828800"/>
            <a:ext cx="10698480" cy="2926080"/>
          </a:xfrm>
          <a:prstGeom prst="rect">
            <a:avLst/>
          </a:prstGeom>
          <a:noFill/>
        </p:spPr>
        <p:txBody>
          <a:bodyPr wrap="square" lIns="45720" rIns="45720" tIns="27432" bIns="27432">
            <a:spAutoFit/>
          </a:bodyPr>
          <a:lstStyle/>
          <a:p>
            <a:pPr>
              <a:spcAft>
                <a:spcPts val="180"/>
              </a:spcAft>
              <a:defRPr sz="1800">
                <a:solidFill>
                  <a:srgbClr val="1F2937"/>
                </a:solidFill>
                <a:latin typeface="Aptos"/>
              </a:defRPr>
            </a:pPr>
            <a:r>
              <a:t>What metadata would you store with each chunk to support filters, citations, and deletion?</a:t>
            </a:r>
          </a:p>
          <a:p>
            <a:pPr>
              <a:spcAft>
                <a:spcPts val="180"/>
              </a:spcAft>
              <a:defRPr sz="1800">
                <a:solidFill>
                  <a:srgbClr val="1F2937"/>
                </a:solidFill>
                <a:latin typeface="Aptos"/>
              </a:defRPr>
            </a:pPr>
            <a:r>
              <a:t>How would you compare vector-only, BM25-only, and hybrid retrieval on your domain data?</a:t>
            </a:r>
          </a:p>
          <a:p>
            <a:pPr>
              <a:spcAft>
                <a:spcPts val="180"/>
              </a:spcAft>
              <a:defRPr sz="1800">
                <a:solidFill>
                  <a:srgbClr val="1F2937"/>
                </a:solidFill>
                <a:latin typeface="Aptos"/>
              </a:defRPr>
            </a:pPr>
            <a:r>
              <a:t>Where should capability detection live: notebook, app service, deployment pipeline, or feature flag?</a:t>
            </a:r>
          </a:p>
          <a:p>
            <a:pPr>
              <a:spcAft>
                <a:spcPts val="180"/>
              </a:spcAft>
              <a:defRPr sz="1800">
                <a:solidFill>
                  <a:srgbClr val="1F2937"/>
                </a:solidFill>
                <a:latin typeface="Aptos"/>
              </a:defRPr>
            </a:pPr>
            <a:r>
              <a:t>What do you log for a bad answer: query, retrieved IDs, scores, prompt, model version, and latency?</a:t>
            </a:r>
          </a:p>
          <a:p>
            <a:pPr>
              <a:spcAft>
                <a:spcPts val="180"/>
              </a:spcAft>
              <a:defRPr sz="1800">
                <a:solidFill>
                  <a:srgbClr val="1F2937"/>
                </a:solidFill>
                <a:latin typeface="Aptos"/>
              </a:defRPr>
            </a:pPr>
            <a:r>
              <a:t>When would you keep retrieval in DocumentDB versus introduce a separate search service?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228600"/>
            <a:ext cx="2926080" cy="274320"/>
          </a:xfrm>
          <a:prstGeom prst="rect">
            <a:avLst/>
          </a:prstGeom>
          <a:noFill/>
        </p:spPr>
        <p:txBody>
          <a:bodyPr wrap="square" lIns="45720" rIns="45720" tIns="27432" bIns="27432">
            <a:spAutoFit/>
          </a:bodyPr>
          <a:lstStyle/>
          <a:p>
            <a:r>
              <a:rPr sz="1000" b="1">
                <a:solidFill>
                  <a:srgbClr val="007782"/>
                </a:solidFill>
                <a:latin typeface="Aptos"/>
              </a:rPr>
              <a:t>WRAP</a:t>
            </a:r>
          </a:p>
        </p:txBody>
      </p:sp>
      <p:sp>
        <p:nvSpPr>
          <p:cNvPr id="3" name="TextBox 2"/>
          <p:cNvSpPr txBox="1"/>
          <p:nvPr/>
        </p:nvSpPr>
        <p:spPr>
          <a:xfrm>
            <a:off x="502920" y="512064"/>
            <a:ext cx="7863840" cy="594360"/>
          </a:xfrm>
          <a:prstGeom prst="rect">
            <a:avLst/>
          </a:prstGeom>
          <a:noFill/>
        </p:spPr>
        <p:txBody>
          <a:bodyPr wrap="square" lIns="45720" rIns="45720" tIns="27432" bIns="27432">
            <a:spAutoFit/>
          </a:bodyPr>
          <a:lstStyle/>
          <a:p>
            <a:r>
              <a:rPr sz="2700" b="1">
                <a:solidFill>
                  <a:srgbClr val="143156"/>
                </a:solidFill>
                <a:latin typeface="Aptos"/>
              </a:rPr>
              <a:t>Handout close</a:t>
            </a:r>
          </a:p>
        </p:txBody>
      </p:sp>
      <p:sp>
        <p:nvSpPr>
          <p:cNvPr id="4" name="TextBox 3"/>
          <p:cNvSpPr txBox="1"/>
          <p:nvPr/>
        </p:nvSpPr>
        <p:spPr>
          <a:xfrm>
            <a:off x="521207" y="1024128"/>
            <a:ext cx="8961120" cy="347472"/>
          </a:xfrm>
          <a:prstGeom prst="rect">
            <a:avLst/>
          </a:prstGeom>
          <a:noFill/>
        </p:spPr>
        <p:txBody>
          <a:bodyPr wrap="square" lIns="45720" rIns="45720" tIns="27432" bIns="27432">
            <a:spAutoFit/>
          </a:bodyPr>
          <a:lstStyle/>
          <a:p>
            <a:r>
              <a:rPr sz="1300" b="0">
                <a:solidFill>
                  <a:srgbClr val="4B5563"/>
                </a:solidFill>
                <a:latin typeface="Aptos"/>
              </a:rPr>
              <a:t>What to say if BM25/hybrid cannot run today.</a:t>
            </a:r>
          </a:p>
        </p:txBody>
      </p:sp>
      <p:sp>
        <p:nvSpPr>
          <p:cNvPr id="5" name="Rectangle 4"/>
          <p:cNvSpPr/>
          <p:nvPr/>
        </p:nvSpPr>
        <p:spPr>
          <a:xfrm>
            <a:off x="502920" y="1417320"/>
            <a:ext cx="1115568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058400" cy="777240"/>
          </a:xfrm>
          <a:prstGeom prst="rect">
            <a:avLst/>
          </a:prstGeom>
          <a:noFill/>
        </p:spPr>
        <p:txBody>
          <a:bodyPr wrap="square" lIns="45720" rIns="45720" tIns="27432" bIns="27432">
            <a:spAutoFit/>
          </a:bodyPr>
          <a:lstStyle/>
          <a:p>
            <a:r>
              <a:rPr sz="2500" b="1">
                <a:solidFill>
                  <a:srgbClr val="143156"/>
                </a:solidFill>
                <a:latin typeface="Aptos"/>
              </a:rPr>
              <a:t>Today we are not blocked by a missing preview feature. We are separating what must execute from what must be understood.</a:t>
            </a:r>
          </a:p>
        </p:txBody>
      </p:sp>
      <p:sp>
        <p:nvSpPr>
          <p:cNvPr id="7" name="TextBox 6"/>
          <p:cNvSpPr txBox="1"/>
          <p:nvPr/>
        </p:nvSpPr>
        <p:spPr>
          <a:xfrm>
            <a:off x="1051560" y="3246120"/>
            <a:ext cx="9875520" cy="1371600"/>
          </a:xfrm>
          <a:prstGeom prst="rect">
            <a:avLst/>
          </a:prstGeom>
          <a:noFill/>
        </p:spPr>
        <p:txBody>
          <a:bodyPr wrap="square" lIns="45720" rIns="45720" tIns="27432" bIns="27432">
            <a:spAutoFit/>
          </a:bodyPr>
          <a:lstStyle/>
          <a:p>
            <a:pPr>
              <a:spcAft>
                <a:spcPts val="180"/>
              </a:spcAft>
              <a:defRPr sz="1900">
                <a:solidFill>
                  <a:srgbClr val="1F2937"/>
                </a:solidFill>
                <a:latin typeface="Aptos"/>
              </a:defRPr>
            </a:pPr>
            <a:r>
              <a:t>Execute: setup, DocumentDB connection, embeddings, vector retrieval, prompt assembly.</a:t>
            </a:r>
          </a:p>
          <a:p>
            <a:pPr>
              <a:spcAft>
                <a:spcPts val="180"/>
              </a:spcAft>
              <a:defRPr sz="1900">
                <a:solidFill>
                  <a:srgbClr val="1F2937"/>
                </a:solidFill>
                <a:latin typeface="Aptos"/>
              </a:defRPr>
            </a:pPr>
            <a:r>
              <a:t>Explain: BM25 scoring, fuzzy/phrase matching, hybrid fusion, evaluation strategy.</a:t>
            </a:r>
          </a:p>
          <a:p>
            <a:pPr>
              <a:spcAft>
                <a:spcPts val="180"/>
              </a:spcAft>
              <a:defRPr sz="1900">
                <a:solidFill>
                  <a:srgbClr val="1F2937"/>
                </a:solidFill>
                <a:latin typeface="Aptos"/>
              </a:defRPr>
            </a:pPr>
            <a:r>
              <a:t>Leave them with: contracts, failure modes, and production tuning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